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200" b="1">
                <a:solidFill>
                  <a:srgbClr val="ED4255"/>
                </a:solidFill>
                <a:latin typeface="Arial"/>
              </a:defRPr>
            </a:pPr>
            <a:r>
              <a:t>TRACK P3: INTERACTIVE ENTERTAINMENT</a:t>
            </a:r>
          </a:p>
          <a:p>
            <a:pPr algn="ctr">
              <a:spcAft>
                <a:spcPts val="1000"/>
              </a:spcAft>
              <a:defRPr sz="7200" b="1">
                <a:solidFill>
                  <a:srgbClr val="F8FAFC"/>
                </a:solidFill>
                <a:latin typeface="Arial"/>
              </a:defRPr>
            </a:pPr>
            <a:r>
              <a:t>VERDICTS</a:t>
            </a:r>
          </a:p>
          <a:p>
            <a:pPr algn="ctr">
              <a:spcAft>
                <a:spcPts val="3000"/>
              </a:spcAft>
              <a:defRPr sz="2000">
                <a:solidFill>
                  <a:srgbClr val="94A3B8"/>
                </a:solidFill>
                <a:latin typeface="Arial"/>
              </a:defRPr>
            </a:pPr>
            <a:r>
              <a:t>First-Person Generative Audio Storytelling for Pocket FM</a:t>
            </a:r>
          </a:p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Created by Team: DIGITAL AGENTIC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Pain of Passive 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ED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365760"/>
          <a:lstStyle/>
          <a:p>
            <a:pPr algn="ctr">
              <a:spcAft>
                <a:spcPts val="2000"/>
              </a:spcAft>
              <a:defRPr sz="6400" b="1">
                <a:solidFill>
                  <a:srgbClr val="ED4255"/>
                </a:solidFill>
                <a:latin typeface="Arial"/>
              </a:defRPr>
            </a:pPr>
            <a:r>
              <a:t>83%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Passive Fatigue Drop-off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Listeners drop off streams when content is purely linear and predictable.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645920"/>
            <a:ext cx="6126480" cy="2011680"/>
          </a:xfrm>
          <a:prstGeom prst="roundRect">
            <a:avLst/>
          </a:prstGeom>
          <a:solidFill>
            <a:srgbClr val="140F1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spcAft>
                <a:spcPts val="8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🥱 Predictable Script Fatigue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Standard audiobooks offer no repeat value. Once the ending is heard, replayability collapses to 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4023360"/>
            <a:ext cx="6126480" cy="2011680"/>
          </a:xfrm>
          <a:prstGeom prst="roundRect">
            <a:avLst/>
          </a:prstGeom>
          <a:solidFill>
            <a:srgbClr val="140F1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spcAft>
                <a:spcPts val="8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❌ Zero Audience Agency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Listeners have no say in character decisions, environment actions, or moral choices. They are locked behind a glass wall.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Verdicts: The Interactive Audio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ED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274320" rIns="274320"/>
          <a:lstStyle/>
          <a:p>
            <a:pPr algn="ctr">
              <a:spcAft>
                <a:spcPts val="2000"/>
              </a:spcAft>
              <a:defRPr sz="4000">
                <a:latin typeface="Arial"/>
              </a:defRPr>
            </a:pPr>
            <a:r>
              <a:t>🎙️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Interactive Lobbies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A dedicated, immersive audio tab built right inside Pocket FM's app ecosystem for generative multiplayer rooms.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FBB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274320" rIns="274320"/>
          <a:lstStyle/>
          <a:p>
            <a:pPr algn="ctr">
              <a:spcAft>
                <a:spcPts val="2000"/>
              </a:spcAft>
              <a:defRPr sz="4000">
                <a:latin typeface="Arial"/>
              </a:defRPr>
            </a:pPr>
            <a:r>
              <a:t>🧠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Generative AI Engine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Wipes predictable scripts. The AI generates suspects, motives, clue hierarchies, and cover art on the fly.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50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274320" rIns="274320"/>
          <a:lstStyle/>
          <a:p>
            <a:pPr algn="ctr">
              <a:spcAft>
                <a:spcPts val="2000"/>
              </a:spcAft>
              <a:defRPr sz="4000">
                <a:latin typeface="Arial"/>
              </a:defRPr>
            </a:pPr>
            <a:r>
              <a:t>💬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Realtime Interrogations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Users speak directly to suspects. AI characters respond dynamically in real time, matching their guilt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Pillar 1: SoulCast (Story as a Game)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FBB64A"/>
                </a:solidFill>
                <a:latin typeface="Arial"/>
              </a:defRPr>
            </a:pPr>
            <a:r>
              <a:t>DIVERGENT AUDIO EXPERIENCE</a:t>
            </a:r>
          </a:p>
          <a:p>
            <a:pPr>
              <a:spcAft>
                <a:spcPts val="15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Decisions Reshape narrative physics.</a:t>
            </a:r>
          </a:p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In SoulCast, listeners are the first-person protagonist of interactive thrillers. When the story pauses, you speak or select your decision.</a:t>
            </a:r>
            <a:br/>
            <a:br/>
            <a:r>
              <a:t>The backend immediately creates a permanent 'WorldRule' in the database. Future scenes adapt dynamically, shifting the ending based on your personality, history, and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FBB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User Value Metrics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🎙️ Spoken/Voice-native interactive choices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🧠 Ends passive story drop-off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📈 High-fidelity personalized outcomes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♻️ Endings built on behavior and listening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Pillar 2: Infinite Murder Mystery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ED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ctr">
              <a:spcAft>
                <a:spcPts val="15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Co-Op Clues &amp; Boards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🔍 Split, asymmetric clues across players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📌 Collaborative shared evidence board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🧬 Dynamically generated killer profiles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🧪 Logic paths check generated story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ED4255"/>
                </a:solidFill>
                <a:latin typeface="Arial"/>
              </a:defRPr>
            </a:pPr>
            <a:r>
              <a:t>INFINITE REPLAYABILITY</a:t>
            </a:r>
          </a:p>
          <a:p>
            <a:pPr>
              <a:spcAft>
                <a:spcPts val="15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Realtime AI Suspect Interrogations</a:t>
            </a:r>
          </a:p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Every playthrough generates a completely different killer, motive, evidence set, and solution.</a:t>
            </a:r>
            <a:br/>
            <a:br/>
            <a:r>
              <a:t>Players speak directly to AI suspects in natural language. The suspects respond dynamically using OpenAI Realtime voice engines, aligning contextually to their guilt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Pillar 3: Locked (AI Escape Room)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50BBB6"/>
                </a:solidFill>
                <a:latin typeface="Arial"/>
              </a:defRPr>
            </a:pPr>
            <a:r>
              <a:t>COOPERATIVE AUDIO CHALLENGES</a:t>
            </a:r>
          </a:p>
          <a:p>
            <a:pPr>
              <a:spcAft>
                <a:spcPts val="15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Crack the code through conversation.</a:t>
            </a:r>
          </a:p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Locked places a group of players inside a dark, atmospheric room with no written instructions. The environment responds directly to spoken descriptions.</a:t>
            </a:r>
            <a:br/>
            <a:br/>
            <a:r>
              <a:t>By naturally conversing with the room, players search objects, decode puzzle logs, and uncover split hints to find the exit door.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50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F8FAFC"/>
                </a:solidFill>
                <a:latin typeface="Arial"/>
              </a:defRPr>
            </a:pPr>
            <a:r>
              <a:t>Unique Gameplay Elements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🧩 Dynamic puzzle solution checks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🗣️ Voice-native environmental commands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👥 Shared realtime player state sync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🔊 Spatial audio clues and anomalies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Technical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2926080"/>
          </a:xfrm>
          <a:prstGeom prst="roundRect">
            <a:avLst/>
          </a:prstGeom>
          <a:solidFill>
            <a:srgbClr val="140F1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spcAft>
                <a:spcPts val="15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React / Vite</a:t>
            </a:r>
          </a:p>
          <a:p>
            <a:pPr algn="ctr">
              <a:defRPr sz="1300">
                <a:solidFill>
                  <a:srgbClr val="94A3B8"/>
                </a:solidFill>
                <a:latin typeface="Arial"/>
              </a:defRPr>
            </a:pPr>
            <a:r>
              <a:t>Premium glassmorphic client interface &amp; Websockets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468880" cy="2926080"/>
          </a:xfrm>
          <a:prstGeom prst="roundRect">
            <a:avLst/>
          </a:prstGeom>
          <a:solidFill>
            <a:srgbClr val="140F1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spcAft>
                <a:spcPts val="15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FastAPI &amp; Socket.io</a:t>
            </a:r>
          </a:p>
          <a:p>
            <a:pPr algn="ctr">
              <a:defRPr sz="1300">
                <a:solidFill>
                  <a:srgbClr val="94A3B8"/>
                </a:solidFill>
                <a:latin typeface="Arial"/>
              </a:defRPr>
            </a:pPr>
            <a:r>
              <a:t>ASGI realtime room broadcast and REST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468880" cy="2926080"/>
          </a:xfrm>
          <a:prstGeom prst="roundRect">
            <a:avLst/>
          </a:prstGeom>
          <a:solidFill>
            <a:srgbClr val="140F1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spcAft>
                <a:spcPts val="15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SQLite Store</a:t>
            </a:r>
          </a:p>
          <a:p>
            <a:pPr algn="ctr">
              <a:defRPr sz="1300">
                <a:solidFill>
                  <a:srgbClr val="94A3B8"/>
                </a:solidFill>
                <a:latin typeface="Arial"/>
              </a:defRPr>
            </a:pPr>
            <a:r>
              <a:t>Local database to persist state &amp; curated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468880" cy="2926080"/>
          </a:xfrm>
          <a:prstGeom prst="roundRect">
            <a:avLst/>
          </a:prstGeom>
          <a:solidFill>
            <a:srgbClr val="140F1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spcAft>
                <a:spcPts val="15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OpenAI Service</a:t>
            </a:r>
          </a:p>
          <a:p>
            <a:pPr algn="ctr">
              <a:defRPr sz="1300">
                <a:solidFill>
                  <a:srgbClr val="94A3B8"/>
                </a:solidFill>
                <a:latin typeface="Arial"/>
              </a:defRPr>
            </a:pPr>
            <a:r>
              <a:t>TTS, Realtime audio API, DALL-E-3 cover 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ED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/>
          <a:lstStyle/>
          <a:p>
            <a:pPr algn="ctr"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☁️ Databricks Apps Ready: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Hosted serverless inside Databricks. Resolves app paths, database instances, and environment models out of the box.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4255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Unlocking Business Value for Pocket FM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50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274320" rIns="274320"/>
          <a:lstStyle/>
          <a:p>
            <a:pPr algn="ctr">
              <a:spcAft>
                <a:spcPts val="1500"/>
              </a:spcAft>
              <a:defRPr sz="4800" b="1">
                <a:solidFill>
                  <a:srgbClr val="50BBB6"/>
                </a:solidFill>
                <a:latin typeface="Arial"/>
              </a:defRPr>
            </a:pPr>
            <a:r>
              <a:t>+42%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Engagement Boost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Interactive choice loops and natural conversations drive average listener sessions way beyond linear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FBB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274320" rIns="274320"/>
          <a:lstStyle/>
          <a:p>
            <a:pPr algn="ctr">
              <a:spcAft>
                <a:spcPts val="1500"/>
              </a:spcAft>
              <a:defRPr sz="4800" b="1">
                <a:solidFill>
                  <a:srgbClr val="FBB64A"/>
                </a:solidFill>
                <a:latin typeface="Arial"/>
              </a:defRPr>
            </a:pPr>
            <a:r>
              <a:t>Coins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Monetization Hooks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Plugs into Pocket FM's coin structure. Pay micro-coins to interrogate suspects or buy extra puzzle clues.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140F1E"/>
          </a:solidFill>
          <a:ln w="19050">
            <a:solidFill>
              <a:srgbClr val="ED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274320" rIns="274320"/>
          <a:lstStyle/>
          <a:p>
            <a:pPr algn="ctr">
              <a:spcAft>
                <a:spcPts val="1500"/>
              </a:spcAft>
              <a:defRPr sz="4800" b="1">
                <a:solidFill>
                  <a:srgbClr val="ED4255"/>
                </a:solidFill>
                <a:latin typeface="Arial"/>
              </a:defRPr>
            </a:pPr>
            <a:r>
              <a:t>100%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Replay Value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Because the underlying story layers are generated dynamically, listeners repeat the same case to test alternate endings.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6400" b="1">
                <a:solidFill>
                  <a:srgbClr val="ED4255"/>
                </a:solidFill>
                <a:latin typeface="Arial"/>
              </a:defRPr>
            </a:pPr>
            <a:r>
              <a:t>DIGITAL AGENTIC</a:t>
            </a:r>
          </a:p>
          <a:p>
            <a:pPr algn="ctr">
              <a:spcAft>
                <a:spcPts val="3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Delivering the future of interactive audio entertainment today.</a:t>
            </a:r>
          </a:p>
          <a:p>
            <a:pPr algn="ctr">
              <a:defRPr sz="1600" b="1">
                <a:solidFill>
                  <a:srgbClr val="94A3B8"/>
                </a:solidFill>
                <a:latin typeface="Arial"/>
              </a:defRPr>
            </a:pPr>
            <a: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